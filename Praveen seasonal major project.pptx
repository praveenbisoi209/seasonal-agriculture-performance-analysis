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50" r:id="rId18"/>
    <p:sldId id="351" r:id="rId19"/>
    <p:sldId id="355" r:id="rId20"/>
    <p:sldId id="341" r:id="rId21"/>
    <p:sldId id="342" r:id="rId22"/>
    <p:sldId id="34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529" autoAdjust="0"/>
  </p:normalViewPr>
  <p:slideViewPr>
    <p:cSldViewPr snapToGrid="0">
      <p:cViewPr varScale="1">
        <p:scale>
          <a:sx n="91" d="100"/>
          <a:sy n="91" d="100"/>
        </p:scale>
        <p:origin x="274"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8.jfif"/><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5290107" cy="861497"/>
          </a:xfrm>
        </p:spPr>
        <p:txBody>
          <a:bodyPr vert="horz" lIns="91440" tIns="45720" rIns="91440" bIns="45720" rtlCol="0" anchor="t">
            <a:normAutofit/>
          </a:bodyPr>
          <a:lstStyle/>
          <a:p>
            <a:pPr algn="r"/>
            <a:r>
              <a:rPr lang="en-US" b="0" dirty="0">
                <a:solidFill>
                  <a:schemeClr val="tx1"/>
                </a:solidFill>
              </a:rPr>
              <a:t>Name –Praveen Bisoi </a:t>
            </a:r>
            <a:endParaRPr lang="en-IN" b="0" dirty="0">
              <a:solidFill>
                <a:schemeClr val="tx1"/>
              </a:solidFill>
            </a:endParaRPr>
          </a:p>
          <a:p>
            <a:pPr algn="r"/>
            <a:r>
              <a:rPr lang="en-US" b="0" dirty="0">
                <a:solidFill>
                  <a:schemeClr val="tx1"/>
                </a:solidFill>
              </a:rPr>
              <a:t>College Name –ISBR BUSSINESS SCHOOL]</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22950" y="193040"/>
            <a:ext cx="7973093" cy="743448"/>
          </a:xfrm>
        </p:spPr>
        <p:txBody>
          <a:bodyPr>
            <a:normAutofit/>
          </a:bodyPr>
          <a:lstStyle/>
          <a:p>
            <a:r>
              <a:rPr lang="en-IN"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428957" y="5525869"/>
            <a:ext cx="5284003" cy="369332"/>
          </a:xfrm>
          <a:prstGeom prst="rect">
            <a:avLst/>
          </a:prstGeom>
          <a:noFill/>
        </p:spPr>
        <p:txBody>
          <a:bodyPr wrap="square" rtlCol="0">
            <a:spAutoFit/>
          </a:bodyPr>
          <a:lstStyle/>
          <a:p>
            <a:r>
              <a:rPr lang="en-US" b="1" dirty="0"/>
              <a:t>AICTE STU ID :STU6a652848ee4cb1785014344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55275" y="1570008"/>
            <a:ext cx="6276109" cy="830997"/>
          </a:xfrm>
        </p:spPr>
        <p:txBody>
          <a:bodyPr>
            <a:normAutofit fontScale="90000"/>
          </a:bodyPr>
          <a:lstStyle/>
          <a:p>
            <a:br>
              <a:rPr lang="en-GB" dirty="0"/>
            </a:br>
            <a:r>
              <a:rPr lang="en-GB" dirty="0"/>
              <a:t> </a:t>
            </a: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Rectangle 3">
            <a:extLst>
              <a:ext uri="{FF2B5EF4-FFF2-40B4-BE49-F238E27FC236}">
                <a16:creationId xmlns:a16="http://schemas.microsoft.com/office/drawing/2014/main" id="{629B1931-E674-E153-996C-0286BCE99627}"/>
              </a:ext>
            </a:extLst>
          </p:cNvPr>
          <p:cNvSpPr>
            <a:spLocks noChangeArrowheads="1"/>
          </p:cNvSpPr>
          <p:nvPr/>
        </p:nvSpPr>
        <p:spPr bwMode="auto">
          <a:xfrm>
            <a:off x="155275" y="623595"/>
            <a:ext cx="10360325"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Analyzed agricultural data across </a:t>
            </a:r>
            <a:r>
              <a:rPr kumimoji="0" lang="en-US" altLang="en-US" sz="1800" b="1" i="0" u="none" strike="noStrike" cap="none" normalizeH="0" baseline="0" dirty="0">
                <a:ln>
                  <a:noFill/>
                </a:ln>
                <a:solidFill>
                  <a:schemeClr val="tx1"/>
                </a:solidFill>
                <a:effectLst/>
                <a:latin typeface="Arial" panose="020B0604020202020204" pitchFamily="34" charset="0"/>
              </a:rPr>
              <a:t>Kharif, Rabi, and Zaid seasons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Studied the impact of </a:t>
            </a:r>
            <a:r>
              <a:rPr kumimoji="0" lang="en-US" altLang="en-US" sz="1800" b="1" i="0" u="none" strike="noStrike" cap="none" normalizeH="0" baseline="0" dirty="0">
                <a:ln>
                  <a:noFill/>
                </a:ln>
                <a:solidFill>
                  <a:schemeClr val="tx1"/>
                </a:solidFill>
                <a:effectLst/>
                <a:latin typeface="Arial" panose="020B0604020202020204" pitchFamily="34" charset="0"/>
              </a:rPr>
              <a:t>seasonal, environmental, and farming conditions</a:t>
            </a:r>
            <a:r>
              <a:rPr kumimoji="0" lang="en-US" altLang="en-US" sz="1800" b="0" i="0" u="none" strike="noStrike" cap="none" normalizeH="0" baseline="0" dirty="0">
                <a:ln>
                  <a:noFill/>
                </a:ln>
                <a:solidFill>
                  <a:schemeClr val="tx1"/>
                </a:solidFill>
                <a:effectLst/>
                <a:latin typeface="Arial" panose="020B0604020202020204" pitchFamily="34" charset="0"/>
              </a:rPr>
              <a:t> on agricultural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Evaluated key metrics including </a:t>
            </a:r>
            <a:r>
              <a:rPr kumimoji="0" lang="en-US" altLang="en-US" sz="1800" b="1" i="0" u="none" strike="noStrike" cap="none" normalizeH="0" baseline="0" dirty="0">
                <a:ln>
                  <a:noFill/>
                </a:ln>
                <a:solidFill>
                  <a:schemeClr val="tx1"/>
                </a:solidFill>
                <a:effectLst/>
                <a:latin typeface="Arial" panose="020B0604020202020204" pitchFamily="34" charset="0"/>
              </a:rPr>
              <a:t>yield, production, revenue, profit, water usage, rainfall, and irrigation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Performed </a:t>
            </a:r>
            <a:r>
              <a:rPr kumimoji="0" lang="en-US" altLang="en-US" sz="1800" b="1" i="0" u="none" strike="noStrike" cap="none" normalizeH="0" baseline="0" dirty="0">
                <a:ln>
                  <a:noFill/>
                </a:ln>
                <a:solidFill>
                  <a:schemeClr val="tx1"/>
                </a:solidFill>
                <a:effectLst/>
                <a:latin typeface="Arial" panose="020B0604020202020204" pitchFamily="34" charset="0"/>
              </a:rPr>
              <a:t>data cleaning, exploratory data analysis, statistical analysis, correlation analysis, and visualization</a:t>
            </a:r>
            <a:r>
              <a:rPr kumimoji="0" lang="en-US" altLang="en-US" sz="1800" b="0" i="0" u="none" strike="noStrike" cap="none" normalizeH="0" baseline="0" dirty="0">
                <a:ln>
                  <a:noFill/>
                </a:ln>
                <a:solidFill>
                  <a:schemeClr val="tx1"/>
                </a:solidFill>
                <a:effectLst/>
                <a:latin typeface="Arial" panose="020B0604020202020204" pitchFamily="34" charset="0"/>
              </a:rPr>
              <a:t> using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Compared </a:t>
            </a:r>
            <a:r>
              <a:rPr kumimoji="0" lang="en-US" altLang="en-US" sz="1800" b="1" i="0" u="none" strike="noStrike" cap="none" normalizeH="0" baseline="0" dirty="0">
                <a:ln>
                  <a:noFill/>
                </a:ln>
                <a:solidFill>
                  <a:schemeClr val="tx1"/>
                </a:solidFill>
                <a:effectLst/>
                <a:latin typeface="Arial" panose="020B0604020202020204" pitchFamily="34" charset="0"/>
              </a:rPr>
              <a:t>crop, regional, and seasonal performance</a:t>
            </a:r>
            <a:r>
              <a:rPr kumimoji="0" lang="en-US" altLang="en-US" sz="1800" b="0" i="0" u="none" strike="noStrike" cap="none" normalizeH="0" baseline="0" dirty="0">
                <a:ln>
                  <a:noFill/>
                </a:ln>
                <a:solidFill>
                  <a:schemeClr val="tx1"/>
                </a:solidFill>
                <a:effectLst/>
                <a:latin typeface="Arial" panose="020B0604020202020204" pitchFamily="34" charset="0"/>
              </a:rPr>
              <a:t> to identify important patterns and variations.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Generated </a:t>
            </a:r>
            <a:r>
              <a:rPr kumimoji="0" lang="en-US" altLang="en-US" sz="1800" b="1" i="0" u="none" strike="noStrike" cap="none" normalizeH="0" baseline="0" dirty="0">
                <a:ln>
                  <a:noFill/>
                </a:ln>
                <a:solidFill>
                  <a:schemeClr val="tx1"/>
                </a:solidFill>
                <a:effectLst/>
                <a:latin typeface="Arial" panose="020B0604020202020204" pitchFamily="34" charset="0"/>
              </a:rPr>
              <a:t>data-driven insights and recommendations</a:t>
            </a:r>
            <a:r>
              <a:rPr kumimoji="0" lang="en-US" altLang="en-US" sz="1800" b="0" i="0" u="none" strike="noStrike" cap="none" normalizeH="0" baseline="0" dirty="0">
                <a:ln>
                  <a:noFill/>
                </a:ln>
                <a:solidFill>
                  <a:schemeClr val="tx1"/>
                </a:solidFill>
                <a:effectLst/>
                <a:latin typeface="Arial" panose="020B0604020202020204" pitchFamily="34" charset="0"/>
              </a:rPr>
              <a:t> for better seasonal planning, crop selection, resource utilization, and profitability.</a:t>
            </a:r>
          </a:p>
        </p:txBody>
      </p:sp>
      <p:sp>
        <p:nvSpPr>
          <p:cNvPr id="8" name="TextBox 7">
            <a:extLst>
              <a:ext uri="{FF2B5EF4-FFF2-40B4-BE49-F238E27FC236}">
                <a16:creationId xmlns:a16="http://schemas.microsoft.com/office/drawing/2014/main" id="{3D2EF831-D28A-922F-BDB3-9CBE99ED3EB3}"/>
              </a:ext>
            </a:extLst>
          </p:cNvPr>
          <p:cNvSpPr txBox="1"/>
          <p:nvPr/>
        </p:nvSpPr>
        <p:spPr>
          <a:xfrm>
            <a:off x="155275" y="67112"/>
            <a:ext cx="6539139" cy="769441"/>
          </a:xfrm>
          <a:prstGeom prst="rect">
            <a:avLst/>
          </a:prstGeom>
          <a:noFill/>
        </p:spPr>
        <p:txBody>
          <a:bodyPr wrap="square" rtlCol="0">
            <a:spAutoFit/>
          </a:bodyPr>
          <a:lstStyle/>
          <a:p>
            <a:r>
              <a:rPr lang="en-US" sz="4400" dirty="0"/>
              <a:t>PROJECT DESCRIPTION</a:t>
            </a:r>
            <a:endParaRPr lang="en-IN" sz="44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125057" y="306166"/>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E7A623D1-ED2B-898A-A807-D0BCAEE8787B}"/>
              </a:ext>
            </a:extLst>
          </p:cNvPr>
          <p:cNvSpPr>
            <a:spLocks noGrp="1" noChangeArrowheads="1"/>
          </p:cNvSpPr>
          <p:nvPr>
            <p:ph type="body" sz="quarter" idx="12"/>
          </p:nvPr>
        </p:nvSpPr>
        <p:spPr bwMode="auto">
          <a:xfrm>
            <a:off x="125057" y="1309821"/>
            <a:ext cx="1187881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Farmers – Improve crop selection, irrigation planning, and seasonal farming decisions.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Agricultural Officers – Monitor seasonal performance and support farmers with data-driven recommendations.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Government Agencies – Plan agricultural policies, subsidies, and resource allocation.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Agricultural Researchers – Study seasonal trends, crop productivity, and environmental impacts.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Agri-Business Companies – Forecast crop production and plan supply chain and market strategies.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5352" y="1183985"/>
            <a:ext cx="9027702" cy="5243448"/>
          </a:xfrm>
        </p:spPr>
        <p:txBody>
          <a:bodyPr/>
          <a:lstStyle/>
          <a:p>
            <a:r>
              <a:rPr lang="en-IN" b="1" dirty="0"/>
              <a:t>Python</a:t>
            </a:r>
            <a:r>
              <a:rPr lang="en-IN" dirty="0"/>
              <a:t> – Programming and data analysis </a:t>
            </a:r>
          </a:p>
          <a:p>
            <a:r>
              <a:rPr lang="en-IN" b="1" dirty="0"/>
              <a:t>Pandas</a:t>
            </a:r>
            <a:r>
              <a:rPr lang="en-IN" dirty="0"/>
              <a:t> – Data cleaning, manipulation, grouping, and aggregation </a:t>
            </a:r>
          </a:p>
          <a:p>
            <a:r>
              <a:rPr lang="en-IN" b="1" dirty="0"/>
              <a:t>NumPy</a:t>
            </a:r>
            <a:r>
              <a:rPr lang="en-IN" dirty="0"/>
              <a:t> – Numerical calculations and data processing </a:t>
            </a:r>
          </a:p>
          <a:p>
            <a:r>
              <a:rPr lang="en-IN" b="1" dirty="0"/>
              <a:t>Matplotlib</a:t>
            </a:r>
            <a:r>
              <a:rPr lang="en-IN" dirty="0"/>
              <a:t> – Creating charts and visualizations </a:t>
            </a:r>
          </a:p>
          <a:p>
            <a:r>
              <a:rPr lang="en-IN" b="1" dirty="0"/>
              <a:t>Seaborn</a:t>
            </a:r>
            <a:r>
              <a:rPr lang="en-IN" dirty="0"/>
              <a:t> – Statistical graphs and relationship analysis </a:t>
            </a:r>
          </a:p>
          <a:p>
            <a:r>
              <a:rPr lang="en-IN" b="1" dirty="0" err="1"/>
              <a:t>Jupyter</a:t>
            </a:r>
            <a:r>
              <a:rPr lang="en-IN" b="1" dirty="0"/>
              <a:t> Notebook</a:t>
            </a:r>
            <a:r>
              <a:rPr lang="en-IN" dirty="0"/>
              <a:t> – Developing and documenting the complete analysis </a:t>
            </a:r>
          </a:p>
          <a:p>
            <a:r>
              <a:rPr lang="en-IN" b="1" dirty="0"/>
              <a:t>Technology Stack:</a:t>
            </a:r>
            <a:br>
              <a:rPr lang="en-IN" dirty="0"/>
            </a:br>
            <a:r>
              <a:rPr lang="en-IN" b="1" dirty="0"/>
              <a:t>Python → Pandas → NumPy → Matplotlib → Seaborn → </a:t>
            </a:r>
            <a:r>
              <a:rPr lang="en-IN" b="1" dirty="0" err="1"/>
              <a:t>Jupyter</a:t>
            </a:r>
            <a:r>
              <a:rPr lang="en-IN" b="1" dirty="0"/>
              <a:t> Notebook</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138572" y="15144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0" y="0"/>
            <a:ext cx="2981643" cy="756969"/>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C11230C-729E-18F9-5C83-618C7F8E2332}"/>
              </a:ext>
            </a:extLst>
          </p:cNvPr>
          <p:cNvPicPr>
            <a:picLocks noChangeAspect="1"/>
          </p:cNvPicPr>
          <p:nvPr/>
        </p:nvPicPr>
        <p:blipFill>
          <a:blip r:embed="rId3"/>
          <a:stretch>
            <a:fillRect/>
          </a:stretch>
        </p:blipFill>
        <p:spPr>
          <a:xfrm>
            <a:off x="0" y="756969"/>
            <a:ext cx="3951215" cy="2514737"/>
          </a:xfrm>
          <a:prstGeom prst="rect">
            <a:avLst/>
          </a:prstGeom>
        </p:spPr>
      </p:pic>
      <p:sp>
        <p:nvSpPr>
          <p:cNvPr id="11" name="TextBox 10">
            <a:extLst>
              <a:ext uri="{FF2B5EF4-FFF2-40B4-BE49-F238E27FC236}">
                <a16:creationId xmlns:a16="http://schemas.microsoft.com/office/drawing/2014/main" id="{94D32439-D44F-2C3F-BC55-8A73520FB457}"/>
              </a:ext>
            </a:extLst>
          </p:cNvPr>
          <p:cNvSpPr txBox="1"/>
          <p:nvPr/>
        </p:nvSpPr>
        <p:spPr>
          <a:xfrm>
            <a:off x="243281" y="4144162"/>
            <a:ext cx="9848675" cy="1754326"/>
          </a:xfrm>
          <a:prstGeom prst="rect">
            <a:avLst/>
          </a:prstGeom>
          <a:noFill/>
        </p:spPr>
        <p:txBody>
          <a:bodyPr wrap="square" rtlCol="0">
            <a:spAutoFit/>
          </a:bodyPr>
          <a:lstStyle/>
          <a:p>
            <a:r>
              <a:rPr lang="en-US" dirty="0"/>
              <a:t>This bar chart shows the number of agricultural records available for each </a:t>
            </a:r>
            <a:r>
              <a:rPr lang="en-US" dirty="0" err="1"/>
              <a:t>season.Kharif</a:t>
            </a:r>
            <a:r>
              <a:rPr lang="en-US" dirty="0"/>
              <a:t>: ~1,775 records — highest representation.</a:t>
            </a:r>
          </a:p>
          <a:p>
            <a:r>
              <a:rPr lang="en-US" dirty="0"/>
              <a:t>Rabi: ~1,620 records — </a:t>
            </a:r>
          </a:p>
          <a:p>
            <a:r>
              <a:rPr lang="en-US" dirty="0"/>
              <a:t>second </a:t>
            </a:r>
            <a:r>
              <a:rPr lang="en-US" dirty="0" err="1"/>
              <a:t>highest.Zaid</a:t>
            </a:r>
            <a:r>
              <a:rPr lang="en-US" dirty="0"/>
              <a:t>: ~590 </a:t>
            </a:r>
          </a:p>
          <a:p>
            <a:r>
              <a:rPr lang="en-US" dirty="0"/>
              <a:t>records — lowest </a:t>
            </a:r>
            <a:r>
              <a:rPr lang="en-US" dirty="0" err="1"/>
              <a:t>representation.Kharif</a:t>
            </a:r>
            <a:r>
              <a:rPr lang="en-US" dirty="0"/>
              <a:t> and Rabi together account for most of the observations, while Zaid has considerably fewer records.</a:t>
            </a: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113281"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AFAB4263-085D-8194-29CB-9E062B9B97B1}"/>
              </a:ext>
            </a:extLst>
          </p:cNvPr>
          <p:cNvPicPr>
            <a:picLocks noChangeAspect="1"/>
          </p:cNvPicPr>
          <p:nvPr/>
        </p:nvPicPr>
        <p:blipFill>
          <a:blip r:embed="rId3"/>
          <a:stretch>
            <a:fillRect/>
          </a:stretch>
        </p:blipFill>
        <p:spPr>
          <a:xfrm>
            <a:off x="113281" y="830997"/>
            <a:ext cx="6048463" cy="3120218"/>
          </a:xfrm>
          <a:prstGeom prst="rect">
            <a:avLst/>
          </a:prstGeom>
        </p:spPr>
      </p:pic>
      <p:sp>
        <p:nvSpPr>
          <p:cNvPr id="9" name="TextBox 8">
            <a:extLst>
              <a:ext uri="{FF2B5EF4-FFF2-40B4-BE49-F238E27FC236}">
                <a16:creationId xmlns:a16="http://schemas.microsoft.com/office/drawing/2014/main" id="{57EED180-501F-AC92-6AF2-3402DAF71272}"/>
              </a:ext>
            </a:extLst>
          </p:cNvPr>
          <p:cNvSpPr txBox="1"/>
          <p:nvPr/>
        </p:nvSpPr>
        <p:spPr>
          <a:xfrm flipH="1">
            <a:off x="444966" y="4107537"/>
            <a:ext cx="8380251" cy="2308324"/>
          </a:xfrm>
          <a:prstGeom prst="rect">
            <a:avLst/>
          </a:prstGeom>
          <a:noFill/>
        </p:spPr>
        <p:txBody>
          <a:bodyPr wrap="square" rtlCol="0">
            <a:spAutoFit/>
          </a:bodyPr>
          <a:lstStyle/>
          <a:p>
            <a:r>
              <a:rPr lang="en-US" dirty="0"/>
              <a:t>This bar chart shows the distribution of agricultural records across different crops</a:t>
            </a:r>
          </a:p>
          <a:p>
            <a:r>
              <a:rPr lang="en-US" dirty="0"/>
              <a:t>.Rice has the highest number of records, approximately 690</a:t>
            </a:r>
          </a:p>
          <a:p>
            <a:r>
              <a:rPr lang="en-US" dirty="0"/>
              <a:t>.Wheat is the second most represented crop, with around 610 records</a:t>
            </a:r>
          </a:p>
          <a:p>
            <a:r>
              <a:rPr lang="en-US" dirty="0"/>
              <a:t>.Maize has approximately 550 </a:t>
            </a:r>
            <a:r>
              <a:rPr lang="en-US" dirty="0" err="1"/>
              <a:t>records.Cotton</a:t>
            </a:r>
            <a:r>
              <a:rPr lang="en-US" dirty="0"/>
              <a:t> and Pulses have around 500 records each</a:t>
            </a:r>
          </a:p>
          <a:p>
            <a:r>
              <a:rPr lang="en-US" dirty="0"/>
              <a:t>.Groundnut and Chilli have fewer records, around 420 and 410 respectively.</a:t>
            </a:r>
          </a:p>
          <a:p>
            <a:r>
              <a:rPr lang="en-US" dirty="0"/>
              <a:t>Sugarcane has the lowest representation, with around 300 records.</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36910" y="-4928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3CBAF113-9870-1A86-0A40-907951C2AC6C}"/>
              </a:ext>
            </a:extLst>
          </p:cNvPr>
          <p:cNvPicPr>
            <a:picLocks noChangeAspect="1"/>
          </p:cNvPicPr>
          <p:nvPr/>
        </p:nvPicPr>
        <p:blipFill>
          <a:blip r:embed="rId3"/>
          <a:stretch>
            <a:fillRect/>
          </a:stretch>
        </p:blipFill>
        <p:spPr>
          <a:xfrm>
            <a:off x="16975" y="889233"/>
            <a:ext cx="5855516" cy="2810312"/>
          </a:xfrm>
          <a:prstGeom prst="rect">
            <a:avLst/>
          </a:prstGeom>
        </p:spPr>
      </p:pic>
      <p:sp>
        <p:nvSpPr>
          <p:cNvPr id="6" name="TextBox 5">
            <a:extLst>
              <a:ext uri="{FF2B5EF4-FFF2-40B4-BE49-F238E27FC236}">
                <a16:creationId xmlns:a16="http://schemas.microsoft.com/office/drawing/2014/main" id="{6FC6673E-D308-1AE0-E589-DB28AF435C58}"/>
              </a:ext>
            </a:extLst>
          </p:cNvPr>
          <p:cNvSpPr txBox="1"/>
          <p:nvPr/>
        </p:nvSpPr>
        <p:spPr>
          <a:xfrm>
            <a:off x="432957" y="3951097"/>
            <a:ext cx="8568429" cy="2585323"/>
          </a:xfrm>
          <a:prstGeom prst="rect">
            <a:avLst/>
          </a:prstGeom>
          <a:noFill/>
        </p:spPr>
        <p:txBody>
          <a:bodyPr wrap="square" rtlCol="0">
            <a:spAutoFit/>
          </a:bodyPr>
          <a:lstStyle/>
          <a:p>
            <a:r>
              <a:rPr lang="en-US" dirty="0"/>
              <a:t>This is a histogram showing the distribution of agricultural yield, measured in </a:t>
            </a:r>
            <a:r>
              <a:rPr lang="en-US" dirty="0" err="1"/>
              <a:t>tonnes</a:t>
            </a:r>
            <a:r>
              <a:rPr lang="en-US" dirty="0"/>
              <a:t> per hectare (</a:t>
            </a:r>
            <a:r>
              <a:rPr lang="en-US" dirty="0" err="1"/>
              <a:t>Tonnes</a:t>
            </a:r>
            <a:r>
              <a:rPr lang="en-US" dirty="0"/>
              <a:t>/ha).Most farms have a yield concentrated around 0–5 </a:t>
            </a:r>
            <a:r>
              <a:rPr lang="en-US" dirty="0" err="1"/>
              <a:t>tonnes</a:t>
            </a:r>
            <a:r>
              <a:rPr lang="en-US" dirty="0"/>
              <a:t>/</a:t>
            </a:r>
            <a:r>
              <a:rPr lang="en-US" dirty="0" err="1"/>
              <a:t>ha.The</a:t>
            </a:r>
            <a:r>
              <a:rPr lang="en-US" dirty="0"/>
              <a:t> highest frequency occurs at the lower yield values, meaning most observations have relatively low </a:t>
            </a:r>
            <a:r>
              <a:rPr lang="en-US" dirty="0" err="1"/>
              <a:t>yields.The</a:t>
            </a:r>
            <a:r>
              <a:rPr lang="en-US" dirty="0"/>
              <a:t> distribution is strongly right-skewed because a small number of observations have very high </a:t>
            </a:r>
            <a:r>
              <a:rPr lang="en-US" dirty="0" err="1"/>
              <a:t>yields.There</a:t>
            </a:r>
            <a:r>
              <a:rPr lang="en-US" dirty="0"/>
              <a:t> are some extreme values extending to very high yields (above 20 and even up to around 100 </a:t>
            </a:r>
            <a:r>
              <a:rPr lang="en-US" dirty="0" err="1"/>
              <a:t>tonnes</a:t>
            </a:r>
            <a:r>
              <a:rPr lang="en-US" dirty="0"/>
              <a:t>/ha).These extreme observations may represent high-performing farms, different crop characteristics, or potential outliers and should be investigated before drawing conclusions.</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3560" y="-270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9167A08-39D1-08F0-EB60-D9D4CA23A1DA}"/>
              </a:ext>
            </a:extLst>
          </p:cNvPr>
          <p:cNvPicPr>
            <a:picLocks noChangeAspect="1"/>
          </p:cNvPicPr>
          <p:nvPr/>
        </p:nvPicPr>
        <p:blipFill>
          <a:blip r:embed="rId3"/>
          <a:stretch>
            <a:fillRect/>
          </a:stretch>
        </p:blipFill>
        <p:spPr>
          <a:xfrm>
            <a:off x="63560" y="804787"/>
            <a:ext cx="5889072" cy="2273323"/>
          </a:xfrm>
          <a:prstGeom prst="rect">
            <a:avLst/>
          </a:prstGeom>
        </p:spPr>
      </p:pic>
      <p:sp>
        <p:nvSpPr>
          <p:cNvPr id="6" name="TextBox 5">
            <a:extLst>
              <a:ext uri="{FF2B5EF4-FFF2-40B4-BE49-F238E27FC236}">
                <a16:creationId xmlns:a16="http://schemas.microsoft.com/office/drawing/2014/main" id="{E69EC820-5CF2-5885-B8D4-4CD43636EB7D}"/>
              </a:ext>
            </a:extLst>
          </p:cNvPr>
          <p:cNvSpPr txBox="1"/>
          <p:nvPr/>
        </p:nvSpPr>
        <p:spPr>
          <a:xfrm>
            <a:off x="320982" y="3310733"/>
            <a:ext cx="6874135" cy="3416320"/>
          </a:xfrm>
          <a:prstGeom prst="rect">
            <a:avLst/>
          </a:prstGeom>
          <a:noFill/>
        </p:spPr>
        <p:txBody>
          <a:bodyPr wrap="square" rtlCol="0">
            <a:spAutoFit/>
          </a:bodyPr>
          <a:lstStyle/>
          <a:p>
            <a:r>
              <a:rPr lang="en-US" dirty="0"/>
              <a:t>This is a </a:t>
            </a:r>
            <a:r>
              <a:rPr lang="en-US" b="1" dirty="0"/>
              <a:t>histogram showing the distribution of farm profit</a:t>
            </a:r>
            <a:r>
              <a:rPr lang="en-US" dirty="0"/>
              <a:t>, measured in </a:t>
            </a:r>
            <a:r>
              <a:rPr lang="en-US" b="1" dirty="0"/>
              <a:t>INR (₹)</a:t>
            </a:r>
            <a:r>
              <a:rPr lang="en-US" dirty="0"/>
              <a:t>.</a:t>
            </a:r>
          </a:p>
          <a:p>
            <a:r>
              <a:rPr lang="en-US" dirty="0"/>
              <a:t>Most farm profits are concentrated </a:t>
            </a:r>
            <a:r>
              <a:rPr lang="en-US" b="1" dirty="0"/>
              <a:t>around ₹0 to ₹2–3 lakh</a:t>
            </a:r>
            <a:r>
              <a:rPr lang="en-US" dirty="0"/>
              <a:t>. </a:t>
            </a:r>
          </a:p>
          <a:p>
            <a:r>
              <a:rPr lang="en-US" dirty="0"/>
              <a:t>The graph includes both </a:t>
            </a:r>
            <a:r>
              <a:rPr lang="en-US" b="1" dirty="0"/>
              <a:t>negative and positive profits</a:t>
            </a:r>
            <a:r>
              <a:rPr lang="en-US" dirty="0"/>
              <a:t>, meaning some farms experienced losses while others made profits. </a:t>
            </a:r>
          </a:p>
          <a:p>
            <a:r>
              <a:rPr lang="en-US" dirty="0"/>
              <a:t>The distribution is </a:t>
            </a:r>
            <a:r>
              <a:rPr lang="en-US" b="1" dirty="0"/>
              <a:t>right-skewed</a:t>
            </a:r>
            <a:r>
              <a:rPr lang="en-US" dirty="0"/>
              <a:t> because a small number of farms have very high profits, extending to </a:t>
            </a:r>
            <a:r>
              <a:rPr lang="en-US" b="1" dirty="0"/>
              <a:t>₹40 lakh+</a:t>
            </a:r>
            <a:r>
              <a:rPr lang="en-US" dirty="0"/>
              <a:t>. </a:t>
            </a:r>
          </a:p>
          <a:p>
            <a:r>
              <a:rPr lang="en-US" dirty="0"/>
              <a:t>There are also some farms with significant losses, shown on the </a:t>
            </a:r>
            <a:r>
              <a:rPr lang="en-US" b="1" dirty="0"/>
              <a:t>negative side</a:t>
            </a:r>
            <a:r>
              <a:rPr lang="en-US" dirty="0"/>
              <a:t> of the graph. </a:t>
            </a:r>
          </a:p>
          <a:p>
            <a:r>
              <a:rPr lang="en-US" dirty="0"/>
              <a:t>The large spread indicates that </a:t>
            </a:r>
            <a:r>
              <a:rPr lang="en-US" b="1" dirty="0"/>
              <a:t>farm profitability varies considerably between farms</a:t>
            </a:r>
            <a:r>
              <a:rPr lang="en-US" dirty="0"/>
              <a:t>.</a:t>
            </a:r>
          </a:p>
          <a:p>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117446" y="75594"/>
            <a:ext cx="2981643" cy="1008546"/>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CBCD3FC-1C83-82AD-62D8-4D577B3AE2DB}"/>
              </a:ext>
            </a:extLst>
          </p:cNvPr>
          <p:cNvPicPr>
            <a:picLocks noChangeAspect="1"/>
          </p:cNvPicPr>
          <p:nvPr/>
        </p:nvPicPr>
        <p:blipFill>
          <a:blip r:embed="rId3"/>
          <a:stretch>
            <a:fillRect/>
          </a:stretch>
        </p:blipFill>
        <p:spPr>
          <a:xfrm>
            <a:off x="199890" y="881748"/>
            <a:ext cx="6929306" cy="2568942"/>
          </a:xfrm>
          <a:prstGeom prst="rect">
            <a:avLst/>
          </a:prstGeom>
        </p:spPr>
      </p:pic>
      <p:sp>
        <p:nvSpPr>
          <p:cNvPr id="6" name="TextBox 5">
            <a:extLst>
              <a:ext uri="{FF2B5EF4-FFF2-40B4-BE49-F238E27FC236}">
                <a16:creationId xmlns:a16="http://schemas.microsoft.com/office/drawing/2014/main" id="{DA45B576-413E-C60D-0735-F93860835643}"/>
              </a:ext>
            </a:extLst>
          </p:cNvPr>
          <p:cNvSpPr txBox="1"/>
          <p:nvPr/>
        </p:nvSpPr>
        <p:spPr>
          <a:xfrm>
            <a:off x="117446" y="3521221"/>
            <a:ext cx="10670599" cy="2585323"/>
          </a:xfrm>
          <a:prstGeom prst="rect">
            <a:avLst/>
          </a:prstGeom>
          <a:noFill/>
        </p:spPr>
        <p:txBody>
          <a:bodyPr wrap="square" rtlCol="0">
            <a:spAutoFit/>
          </a:bodyPr>
          <a:lstStyle/>
          <a:p>
            <a:r>
              <a:rPr lang="en-US" dirty="0"/>
              <a:t>This is a </a:t>
            </a:r>
            <a:r>
              <a:rPr lang="en-US" b="1" dirty="0"/>
              <a:t>histogram showing the distribution of rainfall</a:t>
            </a:r>
            <a:r>
              <a:rPr lang="en-US" dirty="0"/>
              <a:t> across the farms, measured in </a:t>
            </a:r>
            <a:r>
              <a:rPr lang="en-US" b="1" dirty="0" err="1"/>
              <a:t>millimetres</a:t>
            </a:r>
            <a:r>
              <a:rPr lang="en-US" b="1" dirty="0"/>
              <a:t> (mm)</a:t>
            </a:r>
            <a:r>
              <a:rPr lang="en-US" dirty="0"/>
              <a:t>.</a:t>
            </a:r>
          </a:p>
          <a:p>
            <a:r>
              <a:rPr lang="en-US" dirty="0"/>
              <a:t>Rainfall values range approximately from </a:t>
            </a:r>
            <a:r>
              <a:rPr lang="en-US" b="1" dirty="0"/>
              <a:t>100 mm to 1,400 mm</a:t>
            </a:r>
            <a:r>
              <a:rPr lang="en-US" dirty="0"/>
              <a:t>. </a:t>
            </a:r>
          </a:p>
          <a:p>
            <a:r>
              <a:rPr lang="en-US" dirty="0"/>
              <a:t>Most observations are concentrated between </a:t>
            </a:r>
            <a:r>
              <a:rPr lang="en-US" b="1" dirty="0"/>
              <a:t>300 mm and 1,000 mm</a:t>
            </a:r>
            <a:r>
              <a:rPr lang="en-US" dirty="0"/>
              <a:t>. </a:t>
            </a:r>
          </a:p>
          <a:p>
            <a:r>
              <a:rPr lang="en-US" dirty="0"/>
              <a:t>The highest frequency is around </a:t>
            </a:r>
            <a:r>
              <a:rPr lang="en-US" b="1" dirty="0"/>
              <a:t>500–600 mm</a:t>
            </a:r>
            <a:r>
              <a:rPr lang="en-US" dirty="0"/>
              <a:t>, meaning this rainfall range occurs most often in the dataset. </a:t>
            </a:r>
          </a:p>
          <a:p>
            <a:r>
              <a:rPr lang="en-US" dirty="0"/>
              <a:t>Very high rainfall values, above </a:t>
            </a:r>
            <a:r>
              <a:rPr lang="en-US" b="1" dirty="0"/>
              <a:t>1,100–1,200 mm</a:t>
            </a:r>
            <a:r>
              <a:rPr lang="en-US" dirty="0"/>
              <a:t>, occur less frequently. </a:t>
            </a:r>
          </a:p>
          <a:p>
            <a:r>
              <a:rPr lang="en-US" dirty="0"/>
              <a:t>Very low rainfall around </a:t>
            </a:r>
            <a:r>
              <a:rPr lang="en-US" b="1" dirty="0"/>
              <a:t>100–200 mm</a:t>
            </a:r>
            <a:r>
              <a:rPr lang="en-US" dirty="0"/>
              <a:t> is also less common compared with the middle range.</a:t>
            </a:r>
          </a:p>
          <a:p>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06189D-C870-6011-3632-B6FFFE9DD153}"/>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4" name="Picture 3">
            <a:extLst>
              <a:ext uri="{FF2B5EF4-FFF2-40B4-BE49-F238E27FC236}">
                <a16:creationId xmlns:a16="http://schemas.microsoft.com/office/drawing/2014/main" id="{4BD34324-A23F-CF26-8C7B-87FC0C552B0B}"/>
              </a:ext>
            </a:extLst>
          </p:cNvPr>
          <p:cNvPicPr>
            <a:picLocks noChangeAspect="1"/>
          </p:cNvPicPr>
          <p:nvPr/>
        </p:nvPicPr>
        <p:blipFill>
          <a:blip r:embed="rId2"/>
          <a:stretch>
            <a:fillRect/>
          </a:stretch>
        </p:blipFill>
        <p:spPr>
          <a:xfrm>
            <a:off x="0" y="0"/>
            <a:ext cx="8019875" cy="3296873"/>
          </a:xfrm>
          <a:prstGeom prst="rect">
            <a:avLst/>
          </a:prstGeom>
        </p:spPr>
      </p:pic>
      <p:sp>
        <p:nvSpPr>
          <p:cNvPr id="6" name="TextBox 5">
            <a:extLst>
              <a:ext uri="{FF2B5EF4-FFF2-40B4-BE49-F238E27FC236}">
                <a16:creationId xmlns:a16="http://schemas.microsoft.com/office/drawing/2014/main" id="{07DFD953-7BFA-6B8A-EFE0-10DB666A693E}"/>
              </a:ext>
            </a:extLst>
          </p:cNvPr>
          <p:cNvSpPr txBox="1"/>
          <p:nvPr/>
        </p:nvSpPr>
        <p:spPr>
          <a:xfrm>
            <a:off x="181761" y="3561128"/>
            <a:ext cx="9507523" cy="2585323"/>
          </a:xfrm>
          <a:prstGeom prst="rect">
            <a:avLst/>
          </a:prstGeom>
          <a:noFill/>
        </p:spPr>
        <p:txBody>
          <a:bodyPr wrap="square" rtlCol="0">
            <a:spAutoFit/>
          </a:bodyPr>
          <a:lstStyle/>
          <a:p>
            <a:r>
              <a:rPr lang="en-US"/>
              <a:t>This is a box plot showing the distribution of crop yield (Tonnes/ha) and potential outliers.The box is concentrated near the lower yield range, showing that most farms have relatively low and similar yield values.The whisker extends to around 5 tonnes/ha, representing the typical range of yield values.There are many points above the upper whisker, which are identified as potential outliers.Some extreme observations reach 80–100 tonnes/ha, which is much higher than the majority of the data.This indicates that the yield distribution has very high variability and extreme values.These outliers should not automatically be removed; they may represent unusually high-performing crops/farms or unusual observations that need further investigation.</a:t>
            </a:r>
            <a:endParaRPr lang="en-IN" dirty="0"/>
          </a:p>
        </p:txBody>
      </p:sp>
    </p:spTree>
    <p:extLst>
      <p:ext uri="{BB962C8B-B14F-4D97-AF65-F5344CB8AC3E}">
        <p14:creationId xmlns:p14="http://schemas.microsoft.com/office/powerpoint/2010/main" val="2568901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5DBD74-1705-A6F7-A830-AE97AE9C0FCD}"/>
              </a:ext>
            </a:extLst>
          </p:cNvPr>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4" name="Picture 3">
            <a:extLst>
              <a:ext uri="{FF2B5EF4-FFF2-40B4-BE49-F238E27FC236}">
                <a16:creationId xmlns:a16="http://schemas.microsoft.com/office/drawing/2014/main" id="{C6A0BF1E-4D91-BB62-EE79-B7AA9B3F01E0}"/>
              </a:ext>
            </a:extLst>
          </p:cNvPr>
          <p:cNvPicPr>
            <a:picLocks noChangeAspect="1"/>
          </p:cNvPicPr>
          <p:nvPr/>
        </p:nvPicPr>
        <p:blipFill>
          <a:blip r:embed="rId2"/>
          <a:stretch>
            <a:fillRect/>
          </a:stretch>
        </p:blipFill>
        <p:spPr>
          <a:xfrm>
            <a:off x="0" y="0"/>
            <a:ext cx="6778305" cy="3487723"/>
          </a:xfrm>
          <a:prstGeom prst="rect">
            <a:avLst/>
          </a:prstGeom>
        </p:spPr>
      </p:pic>
      <p:sp>
        <p:nvSpPr>
          <p:cNvPr id="5" name="TextBox 4">
            <a:extLst>
              <a:ext uri="{FF2B5EF4-FFF2-40B4-BE49-F238E27FC236}">
                <a16:creationId xmlns:a16="http://schemas.microsoft.com/office/drawing/2014/main" id="{B974B860-0869-88C2-22B8-D1B6636DBC69}"/>
              </a:ext>
            </a:extLst>
          </p:cNvPr>
          <p:cNvSpPr txBox="1"/>
          <p:nvPr/>
        </p:nvSpPr>
        <p:spPr>
          <a:xfrm>
            <a:off x="696286" y="4127384"/>
            <a:ext cx="8514826" cy="1477328"/>
          </a:xfrm>
          <a:prstGeom prst="rect">
            <a:avLst/>
          </a:prstGeom>
          <a:noFill/>
        </p:spPr>
        <p:txBody>
          <a:bodyPr wrap="square" rtlCol="0">
            <a:spAutoFit/>
          </a:bodyPr>
          <a:lstStyle/>
          <a:p>
            <a:r>
              <a:rPr lang="en-US"/>
              <a:t>This is a </a:t>
            </a:r>
            <a:r>
              <a:rPr lang="en-US" b="1"/>
              <a:t>pie chart showing the percentage distribution of agricultural records across the three seasons</a:t>
            </a:r>
            <a:r>
              <a:rPr lang="en-US"/>
              <a:t>.</a:t>
            </a:r>
          </a:p>
          <a:p>
            <a:r>
              <a:rPr lang="en-US"/>
              <a:t>🌾 </a:t>
            </a:r>
            <a:r>
              <a:rPr lang="en-US" b="1"/>
              <a:t>Kharif – 44.5%</a:t>
            </a:r>
            <a:r>
              <a:rPr lang="en-US"/>
              <a:t> → Has the largest share of records. </a:t>
            </a:r>
          </a:p>
          <a:p>
            <a:r>
              <a:rPr lang="en-US"/>
              <a:t>🌱 </a:t>
            </a:r>
            <a:r>
              <a:rPr lang="en-US" b="1"/>
              <a:t>Rabi – 40.7%</a:t>
            </a:r>
            <a:r>
              <a:rPr lang="en-US"/>
              <a:t> → Has the second-largest share and is close to Kharif. </a:t>
            </a:r>
          </a:p>
          <a:p>
            <a:r>
              <a:rPr lang="en-US"/>
              <a:t>☀️ </a:t>
            </a:r>
            <a:r>
              <a:rPr lang="en-US" b="1"/>
              <a:t>Zaid – 14.8%</a:t>
            </a:r>
            <a:r>
              <a:rPr lang="en-US"/>
              <a:t> → Has the smallest share of records.</a:t>
            </a:r>
          </a:p>
        </p:txBody>
      </p:sp>
    </p:spTree>
    <p:extLst>
      <p:ext uri="{BB962C8B-B14F-4D97-AF65-F5344CB8AC3E}">
        <p14:creationId xmlns:p14="http://schemas.microsoft.com/office/powerpoint/2010/main" val="571952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0902DC-118A-13EC-D5AA-747A35F19C6F}"/>
              </a:ext>
            </a:extLst>
          </p:cNvPr>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6" name="Picture 5">
            <a:extLst>
              <a:ext uri="{FF2B5EF4-FFF2-40B4-BE49-F238E27FC236}">
                <a16:creationId xmlns:a16="http://schemas.microsoft.com/office/drawing/2014/main" id="{9A72B293-1D3A-244C-A5B0-75B15FEACB4E}"/>
              </a:ext>
            </a:extLst>
          </p:cNvPr>
          <p:cNvPicPr>
            <a:picLocks noChangeAspect="1"/>
          </p:cNvPicPr>
          <p:nvPr/>
        </p:nvPicPr>
        <p:blipFill>
          <a:blip r:embed="rId2"/>
          <a:stretch>
            <a:fillRect/>
          </a:stretch>
        </p:blipFill>
        <p:spPr>
          <a:xfrm>
            <a:off x="0" y="-58723"/>
            <a:ext cx="7273255" cy="3204594"/>
          </a:xfrm>
          <a:prstGeom prst="rect">
            <a:avLst/>
          </a:prstGeom>
        </p:spPr>
      </p:pic>
      <p:sp>
        <p:nvSpPr>
          <p:cNvPr id="7" name="TextBox 6">
            <a:extLst>
              <a:ext uri="{FF2B5EF4-FFF2-40B4-BE49-F238E27FC236}">
                <a16:creationId xmlns:a16="http://schemas.microsoft.com/office/drawing/2014/main" id="{72B57811-A7C4-6406-7BB7-EA08D2491E46}"/>
              </a:ext>
            </a:extLst>
          </p:cNvPr>
          <p:cNvSpPr txBox="1"/>
          <p:nvPr/>
        </p:nvSpPr>
        <p:spPr>
          <a:xfrm>
            <a:off x="167781" y="3355596"/>
            <a:ext cx="10024844" cy="2308324"/>
          </a:xfrm>
          <a:prstGeom prst="rect">
            <a:avLst/>
          </a:prstGeom>
          <a:noFill/>
        </p:spPr>
        <p:txBody>
          <a:bodyPr wrap="square" rtlCol="0">
            <a:spAutoFit/>
          </a:bodyPr>
          <a:lstStyle/>
          <a:p>
            <a:r>
              <a:rPr lang="en-US"/>
              <a:t>This is a box plot comparing crop yield across Kharif, Rabi, and Zaid seasons, measured in tonnes per hectare (Tonnes/ha).Kharif: Shows the widest spread of extreme values, with some observations reaching above 100 tonnes/ha.Rabi: Also has many high-yield outliers, reaching around 90+ tonnes/ha.Zaid: Has fewer extreme values, with the highest observations reaching around 65 tonnes/ha.The main boxes for all three seasons are concentrated at low yield levels, meaning most observations have relatively low yields.The large number of points above the whiskers indicates many potential outliers/high-yield observations.Kharif appears to have the highest extreme yield values, while Zaid has a lower maximum among the three.</a:t>
            </a:r>
            <a:endParaRPr lang="en-IN" dirty="0"/>
          </a:p>
        </p:txBody>
      </p:sp>
    </p:spTree>
    <p:extLst>
      <p:ext uri="{BB962C8B-B14F-4D97-AF65-F5344CB8AC3E}">
        <p14:creationId xmlns:p14="http://schemas.microsoft.com/office/powerpoint/2010/main" val="3787856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F16460-17F8-A6D6-FD2E-7C01E2A8C7E4}"/>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4" name="Picture 3">
            <a:extLst>
              <a:ext uri="{FF2B5EF4-FFF2-40B4-BE49-F238E27FC236}">
                <a16:creationId xmlns:a16="http://schemas.microsoft.com/office/drawing/2014/main" id="{338833F3-A43C-DBAD-92E3-0D3A61673C76}"/>
              </a:ext>
            </a:extLst>
          </p:cNvPr>
          <p:cNvPicPr>
            <a:picLocks noChangeAspect="1"/>
          </p:cNvPicPr>
          <p:nvPr/>
        </p:nvPicPr>
        <p:blipFill>
          <a:blip r:embed="rId2"/>
          <a:stretch>
            <a:fillRect/>
          </a:stretch>
        </p:blipFill>
        <p:spPr>
          <a:xfrm>
            <a:off x="0" y="0"/>
            <a:ext cx="6775508" cy="3305262"/>
          </a:xfrm>
          <a:prstGeom prst="rect">
            <a:avLst/>
          </a:prstGeom>
        </p:spPr>
      </p:pic>
      <p:sp>
        <p:nvSpPr>
          <p:cNvPr id="5" name="TextBox 4">
            <a:extLst>
              <a:ext uri="{FF2B5EF4-FFF2-40B4-BE49-F238E27FC236}">
                <a16:creationId xmlns:a16="http://schemas.microsoft.com/office/drawing/2014/main" id="{A8A15D85-82E9-681F-99D8-EE67BB9E41F8}"/>
              </a:ext>
            </a:extLst>
          </p:cNvPr>
          <p:cNvSpPr txBox="1"/>
          <p:nvPr/>
        </p:nvSpPr>
        <p:spPr>
          <a:xfrm>
            <a:off x="151002" y="3533605"/>
            <a:ext cx="10561739" cy="3139321"/>
          </a:xfrm>
          <a:prstGeom prst="rect">
            <a:avLst/>
          </a:prstGeom>
          <a:noFill/>
        </p:spPr>
        <p:txBody>
          <a:bodyPr wrap="square" rtlCol="0">
            <a:spAutoFit/>
          </a:bodyPr>
          <a:lstStyle/>
          <a:p>
            <a:r>
              <a:rPr lang="en-US" dirty="0"/>
              <a:t>This is a </a:t>
            </a:r>
            <a:r>
              <a:rPr lang="en-US" b="1" dirty="0"/>
              <a:t>box plot showing water usage across Kharif, Rabi, and Zaid seasons</a:t>
            </a:r>
            <a:r>
              <a:rPr lang="en-US" dirty="0"/>
              <a:t>, measured in </a:t>
            </a:r>
            <a:r>
              <a:rPr lang="en-US" b="1" dirty="0"/>
              <a:t>m³ (cubic </a:t>
            </a:r>
            <a:r>
              <a:rPr lang="en-US" b="1" dirty="0" err="1"/>
              <a:t>metres</a:t>
            </a:r>
            <a:r>
              <a:rPr lang="en-US" b="1" dirty="0"/>
              <a:t>)</a:t>
            </a:r>
            <a:r>
              <a:rPr lang="en-US" dirty="0"/>
              <a:t>.</a:t>
            </a:r>
          </a:p>
          <a:p>
            <a:r>
              <a:rPr lang="en-US" b="1" dirty="0"/>
              <a:t>Kharif:</a:t>
            </a:r>
            <a:r>
              <a:rPr lang="en-US" dirty="0"/>
              <a:t> The median water usage is around </a:t>
            </a:r>
            <a:r>
              <a:rPr lang="en-US" b="1" dirty="0"/>
              <a:t>4,500 m³</a:t>
            </a:r>
            <a:r>
              <a:rPr lang="en-US" dirty="0"/>
              <a:t>. </a:t>
            </a:r>
          </a:p>
          <a:p>
            <a:r>
              <a:rPr lang="en-US" b="1" dirty="0"/>
              <a:t>Rabi:</a:t>
            </a:r>
            <a:r>
              <a:rPr lang="en-US" dirty="0"/>
              <a:t> The median is also around </a:t>
            </a:r>
            <a:r>
              <a:rPr lang="en-US" b="1" dirty="0"/>
              <a:t>4,500 m³</a:t>
            </a:r>
            <a:r>
              <a:rPr lang="en-US" dirty="0"/>
              <a:t>, so its typical water usage is quite similar to Kharif. </a:t>
            </a:r>
          </a:p>
          <a:p>
            <a:r>
              <a:rPr lang="en-US" b="1" dirty="0"/>
              <a:t>Zaid:</a:t>
            </a:r>
            <a:r>
              <a:rPr lang="en-US" dirty="0"/>
              <a:t> Has a slightly </a:t>
            </a:r>
            <a:r>
              <a:rPr lang="en-US" b="1" dirty="0"/>
              <a:t>higher median water usage</a:t>
            </a:r>
            <a:r>
              <a:rPr lang="en-US" dirty="0"/>
              <a:t>, around </a:t>
            </a:r>
            <a:r>
              <a:rPr lang="en-US" b="1" dirty="0"/>
              <a:t>4,800–5,000 m³</a:t>
            </a:r>
            <a:r>
              <a:rPr lang="en-US" dirty="0"/>
              <a:t>. </a:t>
            </a:r>
          </a:p>
          <a:p>
            <a:r>
              <a:rPr lang="en-US" dirty="0"/>
              <a:t>The boxes show that water usage has </a:t>
            </a:r>
            <a:r>
              <a:rPr lang="en-US" b="1" dirty="0"/>
              <a:t>considerable variation</a:t>
            </a:r>
            <a:r>
              <a:rPr lang="en-US" dirty="0"/>
              <a:t> within each season. </a:t>
            </a:r>
          </a:p>
          <a:p>
            <a:r>
              <a:rPr lang="en-US" dirty="0"/>
              <a:t>All three seasons contain many </a:t>
            </a:r>
            <a:r>
              <a:rPr lang="en-US" b="1" dirty="0"/>
              <a:t>high-value outliers</a:t>
            </a:r>
            <a:r>
              <a:rPr lang="en-US" dirty="0"/>
              <a:t>, with some farms using more than </a:t>
            </a:r>
            <a:r>
              <a:rPr lang="en-US" b="1" dirty="0"/>
              <a:t>15,000 m³</a:t>
            </a:r>
            <a:r>
              <a:rPr lang="en-US" dirty="0"/>
              <a:t>. </a:t>
            </a:r>
          </a:p>
          <a:p>
            <a:r>
              <a:rPr lang="en-US" dirty="0"/>
              <a:t>Rabi has the </a:t>
            </a:r>
            <a:r>
              <a:rPr lang="en-US" b="1" dirty="0"/>
              <a:t>highest extreme value</a:t>
            </a:r>
            <a:r>
              <a:rPr lang="en-US" dirty="0"/>
              <a:t>, reaching approximately </a:t>
            </a:r>
            <a:r>
              <a:rPr lang="en-US" b="1" dirty="0"/>
              <a:t>41,000 m³</a:t>
            </a:r>
            <a:r>
              <a:rPr lang="en-US" dirty="0"/>
              <a:t>. </a:t>
            </a:r>
          </a:p>
          <a:p>
            <a:r>
              <a:rPr lang="en-US" dirty="0"/>
              <a:t>Overall, typical water usage is fairly similar across the three seasons, but some farms consume </a:t>
            </a:r>
            <a:r>
              <a:rPr lang="en-US" b="1" dirty="0"/>
              <a:t>much larger amounts of water</a:t>
            </a:r>
            <a:r>
              <a:rPr lang="en-US" dirty="0"/>
              <a:t>.</a:t>
            </a:r>
          </a:p>
          <a:p>
            <a:endParaRPr lang="en-IN" dirty="0"/>
          </a:p>
        </p:txBody>
      </p:sp>
    </p:spTree>
    <p:extLst>
      <p:ext uri="{BB962C8B-B14F-4D97-AF65-F5344CB8AC3E}">
        <p14:creationId xmlns:p14="http://schemas.microsoft.com/office/powerpoint/2010/main" val="1499757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96733A-DEBD-6D5E-D30C-FE4417B86EB5}"/>
              </a:ext>
            </a:extLst>
          </p:cNvPr>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4" name="Picture 3">
            <a:extLst>
              <a:ext uri="{FF2B5EF4-FFF2-40B4-BE49-F238E27FC236}">
                <a16:creationId xmlns:a16="http://schemas.microsoft.com/office/drawing/2014/main" id="{E240C2EF-DD4C-6B5A-27A6-0B54A30050B4}"/>
              </a:ext>
            </a:extLst>
          </p:cNvPr>
          <p:cNvPicPr>
            <a:picLocks noChangeAspect="1"/>
          </p:cNvPicPr>
          <p:nvPr/>
        </p:nvPicPr>
        <p:blipFill>
          <a:blip r:embed="rId2"/>
          <a:stretch>
            <a:fillRect/>
          </a:stretch>
        </p:blipFill>
        <p:spPr>
          <a:xfrm>
            <a:off x="0" y="0"/>
            <a:ext cx="7160399" cy="3174758"/>
          </a:xfrm>
          <a:prstGeom prst="rect">
            <a:avLst/>
          </a:prstGeom>
        </p:spPr>
      </p:pic>
      <p:sp>
        <p:nvSpPr>
          <p:cNvPr id="5" name="TextBox 4">
            <a:extLst>
              <a:ext uri="{FF2B5EF4-FFF2-40B4-BE49-F238E27FC236}">
                <a16:creationId xmlns:a16="http://schemas.microsoft.com/office/drawing/2014/main" id="{A64C1AF2-B789-DABD-DEE1-A8928CE480C5}"/>
              </a:ext>
            </a:extLst>
          </p:cNvPr>
          <p:cNvSpPr txBox="1"/>
          <p:nvPr/>
        </p:nvSpPr>
        <p:spPr>
          <a:xfrm>
            <a:off x="0" y="3271706"/>
            <a:ext cx="8741328" cy="1477328"/>
          </a:xfrm>
          <a:prstGeom prst="rect">
            <a:avLst/>
          </a:prstGeom>
          <a:noFill/>
        </p:spPr>
        <p:txBody>
          <a:bodyPr wrap="square" rtlCol="0">
            <a:spAutoFit/>
          </a:bodyPr>
          <a:lstStyle/>
          <a:p>
            <a:r>
              <a:rPr lang="en-US"/>
              <a:t>This bar chart shows the average water usage across Kharif, Rabi, and Zaid seasons, measured in cubic metres (m³).Zaid has the highest average water usage, around 6,400 m³.Kharif uses slightly less, around 6,100 m³.Rabi has the lowest average water usage, around 5,800 m³.The difference between the seasons is relatively small compared with the overall water consumption.</a:t>
            </a:r>
            <a:endParaRPr lang="en-IN" dirty="0"/>
          </a:p>
        </p:txBody>
      </p:sp>
    </p:spTree>
    <p:extLst>
      <p:ext uri="{BB962C8B-B14F-4D97-AF65-F5344CB8AC3E}">
        <p14:creationId xmlns:p14="http://schemas.microsoft.com/office/powerpoint/2010/main" val="1341716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ED2FD4-E201-575E-B79E-F5D9426F7527}"/>
              </a:ext>
            </a:extLst>
          </p:cNvPr>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4" name="Picture 3">
            <a:extLst>
              <a:ext uri="{FF2B5EF4-FFF2-40B4-BE49-F238E27FC236}">
                <a16:creationId xmlns:a16="http://schemas.microsoft.com/office/drawing/2014/main" id="{C0E2CA14-3F08-5BDB-93DD-6D7D26081062}"/>
              </a:ext>
            </a:extLst>
          </p:cNvPr>
          <p:cNvPicPr>
            <a:picLocks noChangeAspect="1"/>
          </p:cNvPicPr>
          <p:nvPr/>
        </p:nvPicPr>
        <p:blipFill>
          <a:blip r:embed="rId2"/>
          <a:stretch>
            <a:fillRect/>
          </a:stretch>
        </p:blipFill>
        <p:spPr>
          <a:xfrm>
            <a:off x="-109056" y="-67111"/>
            <a:ext cx="5972961" cy="3496111"/>
          </a:xfrm>
          <a:prstGeom prst="rect">
            <a:avLst/>
          </a:prstGeom>
        </p:spPr>
      </p:pic>
      <p:sp>
        <p:nvSpPr>
          <p:cNvPr id="5" name="TextBox 4">
            <a:extLst>
              <a:ext uri="{FF2B5EF4-FFF2-40B4-BE49-F238E27FC236}">
                <a16:creationId xmlns:a16="http://schemas.microsoft.com/office/drawing/2014/main" id="{B3A35797-C2E9-1ED0-C4C4-2EDE2A061AAD}"/>
              </a:ext>
            </a:extLst>
          </p:cNvPr>
          <p:cNvSpPr txBox="1"/>
          <p:nvPr/>
        </p:nvSpPr>
        <p:spPr>
          <a:xfrm>
            <a:off x="67112" y="3429000"/>
            <a:ext cx="10159068" cy="3139321"/>
          </a:xfrm>
          <a:prstGeom prst="rect">
            <a:avLst/>
          </a:prstGeom>
          <a:noFill/>
        </p:spPr>
        <p:txBody>
          <a:bodyPr wrap="square" rtlCol="0">
            <a:spAutoFit/>
          </a:bodyPr>
          <a:lstStyle/>
          <a:p>
            <a:r>
              <a:rPr lang="en-US" dirty="0"/>
              <a:t>This is a </a:t>
            </a:r>
            <a:r>
              <a:rPr lang="en-US" b="1" dirty="0"/>
              <a:t>scatter plot showing the relationship between Rainfall (mm) and Agricultural Yield (</a:t>
            </a:r>
            <a:r>
              <a:rPr lang="en-US" b="1" dirty="0" err="1"/>
              <a:t>tonnes</a:t>
            </a:r>
            <a:r>
              <a:rPr lang="en-US" b="1" dirty="0"/>
              <a:t>/ha)</a:t>
            </a:r>
            <a:r>
              <a:rPr lang="en-US" dirty="0"/>
              <a:t>.</a:t>
            </a:r>
          </a:p>
          <a:p>
            <a:r>
              <a:rPr lang="en-US" b="1" dirty="0"/>
              <a:t>X-axis:</a:t>
            </a:r>
            <a:r>
              <a:rPr lang="en-US" dirty="0"/>
              <a:t> Rainfall in </a:t>
            </a:r>
            <a:r>
              <a:rPr lang="en-US" dirty="0" err="1"/>
              <a:t>millimetres</a:t>
            </a:r>
            <a:r>
              <a:rPr lang="en-US" dirty="0"/>
              <a:t> (mm) </a:t>
            </a:r>
          </a:p>
          <a:p>
            <a:r>
              <a:rPr lang="en-US" b="1" dirty="0"/>
              <a:t>Y-axis:</a:t>
            </a:r>
            <a:r>
              <a:rPr lang="en-US" dirty="0"/>
              <a:t> Agricultural yield in </a:t>
            </a:r>
            <a:r>
              <a:rPr lang="en-US" dirty="0" err="1"/>
              <a:t>tonnes</a:t>
            </a:r>
            <a:r>
              <a:rPr lang="en-US" dirty="0"/>
              <a:t>/ha </a:t>
            </a:r>
          </a:p>
          <a:p>
            <a:r>
              <a:rPr lang="en-US" dirty="0"/>
              <a:t>Most observations are concentrated at </a:t>
            </a:r>
            <a:r>
              <a:rPr lang="en-US" b="1" dirty="0"/>
              <a:t>low yield values (0–5 </a:t>
            </a:r>
            <a:r>
              <a:rPr lang="en-US" b="1" dirty="0" err="1"/>
              <a:t>tonnes</a:t>
            </a:r>
            <a:r>
              <a:rPr lang="en-US" b="1" dirty="0"/>
              <a:t>/ha)</a:t>
            </a:r>
            <a:r>
              <a:rPr lang="en-US" dirty="0"/>
              <a:t>. </a:t>
            </a:r>
          </a:p>
          <a:p>
            <a:r>
              <a:rPr lang="en-US" dirty="0"/>
              <a:t>There are also several observations with much higher yields, reaching </a:t>
            </a:r>
            <a:r>
              <a:rPr lang="en-US" b="1" dirty="0"/>
              <a:t>100+ </a:t>
            </a:r>
            <a:r>
              <a:rPr lang="en-US" b="1" dirty="0" err="1"/>
              <a:t>tonnes</a:t>
            </a:r>
            <a:r>
              <a:rPr lang="en-US" b="1" dirty="0"/>
              <a:t>/ha</a:t>
            </a:r>
            <a:r>
              <a:rPr lang="en-US" dirty="0"/>
              <a:t>. </a:t>
            </a:r>
          </a:p>
          <a:p>
            <a:r>
              <a:rPr lang="en-US" dirty="0"/>
              <a:t>The high-yield points are spread across different rainfall levels, especially between approximately </a:t>
            </a:r>
            <a:r>
              <a:rPr lang="en-US" b="1" dirty="0"/>
              <a:t>300–1,000 mm</a:t>
            </a:r>
            <a:r>
              <a:rPr lang="en-US" dirty="0"/>
              <a:t>. </a:t>
            </a:r>
          </a:p>
          <a:p>
            <a:r>
              <a:rPr lang="en-US" dirty="0"/>
              <a:t>This means that </a:t>
            </a:r>
            <a:r>
              <a:rPr lang="en-US" b="1" dirty="0"/>
              <a:t>rainfall alone does not completely explain agricultural yield</a:t>
            </a:r>
            <a:r>
              <a:rPr lang="en-US" dirty="0"/>
              <a:t>. </a:t>
            </a:r>
          </a:p>
          <a:p>
            <a:r>
              <a:rPr lang="en-US" dirty="0"/>
              <a:t>Other factors such as crop type, irrigation, soil conditions, farming practices, temperature, and other environmental factors may also influence yield.</a:t>
            </a:r>
          </a:p>
        </p:txBody>
      </p:sp>
    </p:spTree>
    <p:extLst>
      <p:ext uri="{BB962C8B-B14F-4D97-AF65-F5344CB8AC3E}">
        <p14:creationId xmlns:p14="http://schemas.microsoft.com/office/powerpoint/2010/main" val="2755899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4" name="TextBox 13">
            <a:extLst>
              <a:ext uri="{FF2B5EF4-FFF2-40B4-BE49-F238E27FC236}">
                <a16:creationId xmlns:a16="http://schemas.microsoft.com/office/drawing/2014/main" id="{0EE55C06-5AF0-9E20-621F-E2D437DA47E9}"/>
              </a:ext>
            </a:extLst>
          </p:cNvPr>
          <p:cNvSpPr txBox="1"/>
          <p:nvPr/>
        </p:nvSpPr>
        <p:spPr>
          <a:xfrm>
            <a:off x="320982" y="947957"/>
            <a:ext cx="10702151" cy="3970318"/>
          </a:xfrm>
          <a:prstGeom prst="rect">
            <a:avLst/>
          </a:prstGeom>
          <a:noFill/>
        </p:spPr>
        <p:txBody>
          <a:bodyPr wrap="square">
            <a:spAutoFit/>
          </a:bodyPr>
          <a:lstStyle/>
          <a:p>
            <a:endParaRPr lang="en-US" dirty="0"/>
          </a:p>
          <a:p>
            <a:endParaRPr lang="en-US" dirty="0"/>
          </a:p>
          <a:p>
            <a:r>
              <a:rPr lang="en-US" dirty="0"/>
              <a:t>1.Predictive Analysis – Predict future crop yield, production, and profitability using Machine Learning.</a:t>
            </a:r>
          </a:p>
          <a:p>
            <a:r>
              <a:rPr lang="en-US" dirty="0"/>
              <a:t>2.Weather Integration – Include real-time weather data such as rainfall, temperature, and humidity for better seasonal predictions.</a:t>
            </a:r>
          </a:p>
          <a:p>
            <a:r>
              <a:rPr lang="en-US" dirty="0"/>
              <a:t>3.Crop Recommendation System – Recommend suitable crops based on season, soil, weather, and expected profitability.</a:t>
            </a:r>
          </a:p>
          <a:p>
            <a:r>
              <a:rPr lang="en-US" dirty="0"/>
              <a:t>4.Smart Irrigation – Develop a system to recommend optimal water usage and irrigation methods.</a:t>
            </a:r>
          </a:p>
          <a:p>
            <a:r>
              <a:rPr lang="en-US" dirty="0"/>
              <a:t>5.Regional Forecasting– Predict agricultural performance for different states or regions.</a:t>
            </a:r>
          </a:p>
          <a:p>
            <a:r>
              <a:rPr lang="en-US" dirty="0"/>
              <a:t>6.Real-Time Dashboard – Develop an interactive **Power BI/Tableau dashboard** for continuous monitoring.</a:t>
            </a:r>
          </a:p>
          <a:p>
            <a:r>
              <a:rPr lang="en-US" dirty="0"/>
              <a:t>7.AI-Based Decision Support – Build an AI system that provides personalized recommendations to farmers and agricultural officers.</a:t>
            </a:r>
          </a:p>
          <a:p>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20ECD30D-EE97-C61E-2300-3DA61ED8179E}"/>
              </a:ext>
            </a:extLst>
          </p:cNvPr>
          <p:cNvSpPr txBox="1"/>
          <p:nvPr/>
        </p:nvSpPr>
        <p:spPr>
          <a:xfrm>
            <a:off x="213918" y="1239078"/>
            <a:ext cx="8560966" cy="369332"/>
          </a:xfrm>
          <a:prstGeom prst="rect">
            <a:avLst/>
          </a:prstGeom>
          <a:noFill/>
        </p:spPr>
        <p:txBody>
          <a:bodyPr wrap="square" rtlCol="0">
            <a:spAutoFit/>
          </a:bodyPr>
          <a:lstStyle/>
          <a:p>
            <a:r>
              <a:rPr lang="en-IN" dirty="0"/>
              <a:t>https://github.com/praveenbisoi209/Seasonal-Agriculture-Performance-Analysis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80339" y="0"/>
            <a:ext cx="8351388" cy="775601"/>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3B4A02B-0A7F-1B0F-1471-0F7A9E9FEC1F}"/>
              </a:ext>
            </a:extLst>
          </p:cNvPr>
          <p:cNvPicPr>
            <a:picLocks noChangeAspect="1"/>
          </p:cNvPicPr>
          <p:nvPr/>
        </p:nvPicPr>
        <p:blipFill>
          <a:blip r:embed="rId3"/>
          <a:stretch>
            <a:fillRect/>
          </a:stretch>
        </p:blipFill>
        <p:spPr>
          <a:xfrm>
            <a:off x="320982" y="1622932"/>
            <a:ext cx="7136830" cy="395969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pic>
        <p:nvPicPr>
          <p:cNvPr id="4" name="Picture 3">
            <a:extLst>
              <a:ext uri="{FF2B5EF4-FFF2-40B4-BE49-F238E27FC236}">
                <a16:creationId xmlns:a16="http://schemas.microsoft.com/office/drawing/2014/main" id="{2DD83EE3-C264-AAA8-2261-0B5A2CD0332E}"/>
              </a:ext>
            </a:extLst>
          </p:cNvPr>
          <p:cNvPicPr>
            <a:picLocks noChangeAspect="1"/>
          </p:cNvPicPr>
          <p:nvPr/>
        </p:nvPicPr>
        <p:blipFill>
          <a:blip r:embed="rId3"/>
          <a:stretch>
            <a:fillRect/>
          </a:stretch>
        </p:blipFill>
        <p:spPr>
          <a:xfrm>
            <a:off x="2523909" y="404070"/>
            <a:ext cx="5181600" cy="518160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1531</TotalTime>
  <Words>1650</Words>
  <Application>Microsoft Office PowerPoint</Application>
  <PresentationFormat>Widescreen</PresentationFormat>
  <Paragraphs>110</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Trebuchet MS</vt:lpstr>
      <vt:lpstr>Wingdings</vt:lpstr>
      <vt:lpstr>Wingdings 3</vt:lpstr>
      <vt:lpstr>Facet</vt:lpstr>
      <vt:lpstr>Seasonal Agriculture Performance Analysis</vt:lpstr>
      <vt:lpstr>PROBLEM  STATEMENT</vt:lpstr>
      <vt:lpstr>            </vt:lpstr>
      <vt:lpstr>WHO ARE THE END USERS?</vt:lpstr>
      <vt:lpstr>Technology Used</vt:lpstr>
      <vt:lpstr>RESULTS </vt:lpstr>
      <vt:lpstr>RESULTS </vt:lpstr>
      <vt:lpstr>RESULTS </vt:lpstr>
      <vt:lpstr>RESULTS </vt:lpstr>
      <vt:lpstr>RESULTS </vt:lpstr>
      <vt:lpstr>PowerPoint Presentation</vt:lpstr>
      <vt:lpstr>PowerPoint Presentation</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Praveen bisoi</cp:lastModifiedBy>
  <cp:revision>101</cp:revision>
  <dcterms:created xsi:type="dcterms:W3CDTF">2021-07-11T13:13:15Z</dcterms:created>
  <dcterms:modified xsi:type="dcterms:W3CDTF">2026-09-10T08:50:55Z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